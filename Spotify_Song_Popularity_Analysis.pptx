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4" r:id="rId12"/>
    <p:sldId id="271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sha Khatoon" userId="8dfffe084317d6b2" providerId="LiveId" clId="{595707E2-C386-474C-854A-59F679A22E58}"/>
    <pc:docChg chg="undo custSel addSld modSld">
      <pc:chgData name="Maisha Khatoon" userId="8dfffe084317d6b2" providerId="LiveId" clId="{595707E2-C386-474C-854A-59F679A22E58}" dt="2026-08-06T22:41:42.904" v="69" actId="20577"/>
      <pc:docMkLst>
        <pc:docMk/>
      </pc:docMkLst>
      <pc:sldChg chg="modSp mod">
        <pc:chgData name="Maisha Khatoon" userId="8dfffe084317d6b2" providerId="LiveId" clId="{595707E2-C386-474C-854A-59F679A22E58}" dt="2026-08-06T22:41:24.207" v="68" actId="20577"/>
        <pc:sldMkLst>
          <pc:docMk/>
          <pc:sldMk cId="0" sldId="257"/>
        </pc:sldMkLst>
        <pc:spChg chg="mod">
          <ac:chgData name="Maisha Khatoon" userId="8dfffe084317d6b2" providerId="LiveId" clId="{595707E2-C386-474C-854A-59F679A22E58}" dt="2026-08-06T22:41:24.207" v="68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Maisha Khatoon" userId="8dfffe084317d6b2" providerId="LiveId" clId="{595707E2-C386-474C-854A-59F679A22E58}" dt="2026-08-06T22:41:42.904" v="69" actId="20577"/>
        <pc:sldMkLst>
          <pc:docMk/>
          <pc:sldMk cId="0" sldId="270"/>
        </pc:sldMkLst>
        <pc:spChg chg="mod">
          <ac:chgData name="Maisha Khatoon" userId="8dfffe084317d6b2" providerId="LiveId" clId="{595707E2-C386-474C-854A-59F679A22E58}" dt="2026-08-06T22:41:42.904" v="69" actId="20577"/>
          <ac:spMkLst>
            <pc:docMk/>
            <pc:sldMk cId="0" sldId="270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91414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191414"/>
                </a:solidFill>
                <a:latin typeface="Georgia"/>
              </a:rPr>
              <a:t>Median Streams by Release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streams (M)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5A623"/>
              </a:solidFill>
              <a:ln w="19050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976</c:v>
                </c:pt>
                <c:pt idx="1">
                  <c:v>873</c:v>
                </c:pt>
                <c:pt idx="2">
                  <c:v>1605</c:v>
                </c:pt>
                <c:pt idx="3">
                  <c:v>1288</c:v>
                </c:pt>
                <c:pt idx="4">
                  <c:v>807</c:v>
                </c:pt>
                <c:pt idx="5">
                  <c:v>849</c:v>
                </c:pt>
                <c:pt idx="6">
                  <c:v>514</c:v>
                </c:pt>
                <c:pt idx="7">
                  <c:v>231</c:v>
                </c:pt>
                <c:pt idx="8">
                  <c:v>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F4-4471-8EB9-4E1F01C82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A6A6A"/>
                    </a:solidFill>
                    <a:latin typeface="Calibri"/>
                  </a:defRPr>
                </a:pPr>
                <a:r>
                  <a:rPr lang="en-CA" sz="900" b="0" i="0" u="none" strike="noStrike">
                    <a:solidFill>
                      <a:srgbClr val="6A6A6A"/>
                    </a:solidFill>
                    <a:latin typeface="Calibri"/>
                  </a:rPr>
                  <a:t>Streams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A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91414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191414"/>
                </a:solidFill>
                <a:latin typeface="Georgia"/>
              </a:rPr>
              <a:t>Median Streams by Release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A6A6A"/>
                    </a:solidFill>
                    <a:latin typeface="Calibri"/>
                  </a:defRPr>
                </a:pPr>
                <a:r>
                  <a:rPr lang="en-CA" sz="900" b="0" i="0" u="none" strike="noStrike">
                    <a:solidFill>
                      <a:srgbClr val="6A6A6A"/>
                    </a:solidFill>
                    <a:latin typeface="Calibri"/>
                  </a:rPr>
                  <a:t>Streams (millions)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A6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84C719AA-8506-3431-40F1-3ACA0D26186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6263640" y="0"/>
          <a:ext cx="5669280" cy="402336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208376-2553-4213-AB3D-41F3B2653C08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827E8-CB93-4B44-938D-CCAFA1678C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947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27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32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58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600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635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7474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58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430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545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68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24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18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9861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5672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685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4872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4575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5480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042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CCE42E7-1DCF-4BF5-BF91-CABEDB58896F}" type="datetimeFigureOut">
              <a:rPr lang="en-CA" smtClean="0"/>
              <a:t>2026-08-06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9BC64BD-C1E3-46F3-AE76-7F5241CBD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866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00584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DATA STUDY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6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Decoding Spotify</a:t>
            </a:r>
            <a:endParaRPr lang="en-US" sz="6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6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Popularity</a:t>
            </a:r>
            <a:endParaRPr lang="en-US" sz="6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streams - and how to surface the next hit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5760720"/>
            <a:ext cx="4572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5715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Maisha Khatoon | Analyst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0" y="5852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 songs  ·  558 artists  ·  1930-2023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ED4B3E-14CB-DF57-C8A8-5F571B838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468" y="1199535"/>
            <a:ext cx="4181060" cy="4181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findings that explain Spotify popularity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657600" cy="493776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Playlists are everything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playlist inclusion explains 59% of the variance in streams - more than every audio feature combined. Songs in the top playlist quartile see 10× the streams of the bottom quartile.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657600" cy="493776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2628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262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Cross-platform reach compounds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3657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present on all three major platforms (Spotify + Apple + Deezer) achieve 4.7× the median streams of single-platform tracks. Reach multiplies; it doesn't add.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79"/>
            <a:ext cx="3657600" cy="4937759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412480" y="1737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4124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features barely matter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Danceability, valence, energy - none correlate strongly with streams (all r &lt; 0.13). The right placement matters more than the right sound.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working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6459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5" name="Text 3"/>
          <p:cNvSpPr/>
          <p:nvPr/>
        </p:nvSpPr>
        <p:spPr>
          <a:xfrm>
            <a:off x="804672" y="18745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analyzed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&amp; merge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2424" y="16459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75304" y="18745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75304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artists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7530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+ collaborations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6459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345936" y="18745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432B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45936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streams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593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16459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116568" y="18745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308M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16568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streams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16568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005072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804672" y="423367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04672" y="5330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&gt; 1B streams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696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mega-hits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92424" y="4005072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575304" y="423367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675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575304" y="5330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&gt; 100M streams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75304" y="5696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dataset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4005072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345936" y="423367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345936" y="5330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covered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45936" y="5696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 to 2023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33688" y="4005072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9116568" y="423367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9116568" y="5330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sheets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16568" y="569671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Song_Deatils + Node_Deatils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247120" y="6245352"/>
            <a:ext cx="94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CLEANING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encountered in the raw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87680" y="128760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9F0A5-C174-9833-8C6D-689CAF05046E}"/>
              </a:ext>
            </a:extLst>
          </p:cNvPr>
          <p:cNvSpPr txBox="1"/>
          <p:nvPr/>
        </p:nvSpPr>
        <p:spPr>
          <a:xfrm>
            <a:off x="768227" y="1752244"/>
            <a:ext cx="778256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Data Cleaning Summary (Business View)</a:t>
            </a:r>
          </a:p>
          <a:p>
            <a:endParaRPr lang="en-US" b="1" dirty="0">
              <a:latin typeface="Georgia" panose="02040502050405020303" pitchFamily="18" charset="0"/>
            </a:endParaRPr>
          </a:p>
          <a:p>
            <a:endParaRPr lang="en-US" b="1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Key Issues Identified &amp; Resolved</a:t>
            </a:r>
          </a:p>
          <a:p>
            <a:endParaRPr lang="en-US" sz="12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Inconsistent IDs:</a:t>
            </a:r>
            <a:r>
              <a:rPr lang="en-US" sz="1400" dirty="0">
                <a:latin typeface="Georgia" panose="02040502050405020303" pitchFamily="18" charset="0"/>
              </a:rPr>
              <a:t> Standardized formatting so datasets could merge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Duplicate Records:</a:t>
            </a:r>
            <a:r>
              <a:rPr lang="en-US" sz="1400" dirty="0">
                <a:latin typeface="Georgia" panose="02040502050405020303" pitchFamily="18" charset="0"/>
              </a:rPr>
              <a:t> Removed overlapping entries to avoid double‑counting.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Mixed Data Types:</a:t>
            </a:r>
            <a:r>
              <a:rPr lang="en-US" sz="1400" dirty="0">
                <a:latin typeface="Georgia" panose="02040502050405020303" pitchFamily="18" charset="0"/>
              </a:rPr>
              <a:t> Converted text‑based values into proper numeric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Corrupted Row:</a:t>
            </a:r>
            <a:r>
              <a:rPr lang="en-US" sz="1400" dirty="0">
                <a:latin typeface="Georgia" panose="02040502050405020303" pitchFamily="18" charset="0"/>
              </a:rPr>
              <a:t> Excluded one invalid record to prevent analysis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Encoding Problems:</a:t>
            </a:r>
            <a:r>
              <a:rPr lang="en-US" sz="1400" dirty="0">
                <a:latin typeface="Georgia" panose="02040502050405020303" pitchFamily="18" charset="0"/>
              </a:rPr>
              <a:t> Fixed broken characters in artist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Missing Values:</a:t>
            </a:r>
            <a:r>
              <a:rPr lang="en-US" sz="1400" dirty="0">
                <a:latin typeface="Georgia" panose="02040502050405020303" pitchFamily="18" charset="0"/>
              </a:rPr>
              <a:t> Managed gaps in IDs and audio features during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Georgia" panose="02040502050405020303" pitchFamily="18" charset="0"/>
              </a:rPr>
              <a:t>Structural Differences:</a:t>
            </a:r>
            <a:r>
              <a:rPr lang="en-US" sz="1400" dirty="0">
                <a:latin typeface="Georgia" panose="02040502050405020303" pitchFamily="18" charset="0"/>
              </a:rPr>
              <a:t> Aligned sheet structures to ensure a clean, reliable join.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0E7C73-A01B-78C5-5E3A-46896FBAC382}"/>
              </a:ext>
            </a:extLst>
          </p:cNvPr>
          <p:cNvSpPr txBox="1"/>
          <p:nvPr/>
        </p:nvSpPr>
        <p:spPr>
          <a:xfrm>
            <a:off x="8709538" y="2564913"/>
            <a:ext cx="325447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Outcome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sz="1400" dirty="0">
                <a:latin typeface="Georgia" panose="02040502050405020303" pitchFamily="18" charset="0"/>
              </a:rPr>
              <a:t>1,903 raw rows → 802 clean, analysis‑ready rows</a:t>
            </a:r>
          </a:p>
          <a:p>
            <a:r>
              <a:rPr lang="en-US" sz="1400" dirty="0">
                <a:latin typeface="Georgia" panose="02040502050405020303" pitchFamily="18" charset="0"/>
              </a:rPr>
              <a:t>Consistent, high‑quality dataset with no surprises during modeling</a:t>
            </a:r>
          </a:p>
          <a:p>
            <a:endParaRPr lang="en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analysis was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25780" y="2011680"/>
            <a:ext cx="640080" cy="640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257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5438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43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Normalize merge key, dedupe, fix encoding, coerce types, and build proper dates.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60420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360420" y="2011680"/>
            <a:ext cx="640080" cy="640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3604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8902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902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Distributions, correlations, year &amp; artist breakdowns to surface candidate drivers.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5060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195060" y="2011680"/>
            <a:ext cx="640080" cy="640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1950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2366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366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Linear regression on log-streams for interpretation. Random forest for accuracy &amp; non-linearity.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29700" y="201168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9029700" y="2011680"/>
            <a:ext cx="640080" cy="6400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90297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58300" y="2834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5830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Translate feature importance into actionable recommendations for discovery &amp; promotion.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B95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4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Python (pandas, scikit-learn, matplotlib)  ·  Excel  ·  PowerPoint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inclusion is the dominant driver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406640" y="1477446"/>
            <a:ext cx="4297680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76809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10× GAP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2011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1,214M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68096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streams for songs in the top playlist quartile (Q4)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3611880"/>
            <a:ext cx="37490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68096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8096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119M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68096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songs in the bottom quartile (Q1)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5212080"/>
            <a:ext cx="3749040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7818120" y="5212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random-forest feature importance comes from Spotify playlist count alone.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13235C-5950-5FD4-E23F-99229CBD8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87" y="1477447"/>
            <a:ext cx="6969893" cy="4572000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Cross-platform presence compounds reach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406640" y="15544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4.7×</a:t>
            </a:r>
            <a:endParaRPr lang="en-US" sz="10000" dirty="0"/>
          </a:p>
        </p:txBody>
      </p:sp>
      <p:sp>
        <p:nvSpPr>
          <p:cNvPr id="6" name="Text 3"/>
          <p:cNvSpPr/>
          <p:nvPr/>
        </p:nvSpPr>
        <p:spPr>
          <a:xfrm>
            <a:off x="7406640" y="3017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streams for songs on all three platforms vs. just one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06640" y="4023360"/>
            <a:ext cx="109728" cy="3840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63524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+ Apple + Deezer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52760" y="4023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06640" y="4480560"/>
            <a:ext cx="109728" cy="384048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7635240" y="4480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52760" y="4480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06640" y="4937760"/>
            <a:ext cx="109728" cy="384048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7635240" y="4937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652760" y="49377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06640" y="5532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multiplies, it doesn't add. Each additional platform roughly doubles median streams - suggesting non-overlapping audiences across services.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38469C-7BAE-1EEC-E5C9-AECA75E9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51" y="1673784"/>
            <a:ext cx="5668700" cy="47368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INFLUENCE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moves the needle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81812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vs. collaboration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81812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streams per song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181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artist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18120" y="2606040"/>
            <a:ext cx="41148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7818120" y="2606040"/>
            <a:ext cx="4114800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781812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181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977640"/>
            <a:ext cx="4114800" cy="32004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7818120" y="3977640"/>
            <a:ext cx="2880360" cy="320040"/>
          </a:xfrm>
          <a:prstGeom prst="rect">
            <a:avLst/>
          </a:prstGeom>
          <a:solidFill>
            <a:srgbClr val="B3B3B3"/>
          </a:solidFill>
          <a:ln w="12700">
            <a:solidFill>
              <a:srgbClr val="B3B3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781812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3B3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245M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818120" y="5166360"/>
            <a:ext cx="4114800" cy="114300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3"/>
          <p:cNvSpPr/>
          <p:nvPr/>
        </p:nvSpPr>
        <p:spPr>
          <a:xfrm>
            <a:off x="8001000" y="5257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Counter-intuitive.  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Collabs underperform solo tracks at the median. Star power on one name beats split attention - though The Weeknd &amp; Bad Bunny do appear on many top collabs.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B66D64-93E3-6674-1C54-7987F6269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043376" cy="5029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song sounds like barely matters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589520" y="1554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|r| &lt; 0.13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758952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audio feature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3108960"/>
            <a:ext cx="41148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758952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35661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intuition is that hits share a 'sound’ - danceable, upbeat, the right tempo. The data disagrees.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45262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beats composition. The same song without playlist placement won't break out - regardless of how 'commercial' it sounds.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5577840"/>
            <a:ext cx="4114800" cy="594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7772400" y="55778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RF importance of all 7 audio features:  </a:t>
            </a: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F1861D6-E073-0CFA-E688-C5581EE81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8" y="1424501"/>
            <a:ext cx="6806872" cy="47934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songs are trending right now?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</a:t>
            </a: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songs released in the last 18 months by </a:t>
            </a:r>
            <a:r>
              <a:rPr lang="en-US" sz="1200" b="1" i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per day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20862"/>
              </p:ext>
            </p:extLst>
          </p:nvPr>
        </p:nvGraphicFramePr>
        <p:xfrm>
          <a:off x="457200" y="2057400"/>
          <a:ext cx="11247120" cy="3621024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/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streams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9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Miley Cyrus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1,163M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Unholy (feat. Kim Petras)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Smith, Kim Petras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Ella Baila Sola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Eslabon Armado, Peso Pluma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Anti-Hero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 Swift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Good (Blue)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 Rexha, David Guetta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Creepin'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Weeknd, 21 Savage, Metro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Shakira: Bzrp Music Sessions, Vol.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Shakira, Bizarrap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TQG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Karol G, Shakira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9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x100to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Bunny, Grupo Frontera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506M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Spotify's 'trending' surface should rank by streams-per-day, not lifetime streams. Otherwise, old hits crowd out the songs people are actually discovering this week.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trends: catalog effect &amp; release timing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266274297"/>
              </p:ext>
            </p:extLst>
          </p:nvPr>
        </p:nvGraphicFramePr>
        <p:xfrm>
          <a:off x="6263640" y="141732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623560"/>
            <a:ext cx="5669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3"/>
          <p:cNvSpPr/>
          <p:nvPr/>
        </p:nvSpPr>
        <p:spPr>
          <a:xfrm>
            <a:off x="457200" y="5623560"/>
            <a:ext cx="7315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685800" y="56235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effect.  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songs have had 6+ years to accumulate streams; 2023 songs only months. Median drops sharply post-2020 - not a quality drop.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63640" y="5623560"/>
            <a:ext cx="5669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6"/>
          <p:cNvSpPr/>
          <p:nvPr/>
        </p:nvSpPr>
        <p:spPr>
          <a:xfrm>
            <a:off x="6263640" y="5623560"/>
            <a:ext cx="73152" cy="777240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CA"/>
          </a:p>
        </p:txBody>
      </p:sp>
      <p:sp>
        <p:nvSpPr>
          <p:cNvPr id="11" name="Text 7"/>
          <p:cNvSpPr/>
          <p:nvPr/>
        </p:nvSpPr>
        <p:spPr>
          <a:xfrm>
            <a:off x="6492240" y="56235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9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timing.  </a:t>
            </a: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over-indexes (622M median - year-end carryover &amp; resolution playlists). Jun &amp; Feb-May lag. Aug-Sep are strong launch windows.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Two models, two purposes</a:t>
            </a:r>
            <a:endParaRPr lang="en-US" sz="30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To understand what drives streams, two complementary models were trained on the cleaned dataset. Each answers a different question.</a:t>
            </a:r>
            <a:endParaRPr lang="en-US" sz="1300" dirty="0">
              <a:latin typeface="Georgia" panose="020405020504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99" y="1965960"/>
            <a:ext cx="5334001" cy="4178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303520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221992"/>
            <a:ext cx="438912" cy="438912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>
              <a:latin typeface="Georgia" panose="020405020504050203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2240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A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Interpretable baseline on log₁₀(streams)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0952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4107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Fits a straight-line relationship between each feature and the log of streams. Features are standardized (z-scored) before fitting so coefficients are directly comparable.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96316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Why we used it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Coefficients tell us the direction and magnitude of each driver - e.g. "more Spotify playlist inclusions → higher streams" - in plain, explainable terms.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46542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1520" y="491032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R² = 0.644 on the held-out test set. Explains 64% of stream variance - a strong baseline for a noisy streaming dataset.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4041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56601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Assumes linear relationships. Can't capture interaction effects (e.g. playlist count mattering more for newer songs).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1965960"/>
            <a:ext cx="5334000" cy="4178808"/>
          </a:xfrm>
          <a:prstGeom prst="rect">
            <a:avLst/>
          </a:prstGeom>
          <a:solidFill>
            <a:srgbClr val="FAFAFA"/>
          </a:solidFill>
          <a:ln w="1270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1965960"/>
            <a:ext cx="5303520" cy="73152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29400" y="2221992"/>
            <a:ext cx="438912" cy="438912"/>
          </a:xfrm>
          <a:prstGeom prst="ellipse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2940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>
              <a:latin typeface="Georgia" panose="020405020504050203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05472" y="2240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414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75120" y="2743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6A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Non-linear ensemble · 300 trees · max depth 10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75120" y="308381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75120" y="341071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Builds 300 decision trees on random feature subsets, then averages their predictions. Each split learns non-linear thresholds - e.g. "playlist count &gt; 5,000 matters more than &gt; 100".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0" y="399135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Why we used it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4187952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Feature importance scores reveal which variables the model leans on most - a sanity check on the linear regression, and a richer view of driver hierarchy.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465429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75120" y="491032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R² = 0.853 on the test set. Explains 85% of stream variance - significantly better than LR, confirming non-linear interactions are real.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75120" y="540410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4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75120" y="5660136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Less interpretable. Can't easily say "a one-unit increase in X causes Y" - useful for importance ranking, not for explaining individual effects.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43016" y="385419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>
              <a:latin typeface="Georgia" panose="020405020504050203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43016" y="38541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6A6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2440" y="6195060"/>
            <a:ext cx="11247120" cy="320040"/>
          </a:xfrm>
          <a:prstGeom prst="rect">
            <a:avLst/>
          </a:prstGeom>
          <a:solidFill>
            <a:srgbClr val="191414"/>
          </a:solidFill>
          <a:ln w="12700">
            <a:solidFill>
              <a:srgbClr val="191414"/>
            </a:solidFill>
            <a:prstDash val="solid"/>
          </a:ln>
        </p:spPr>
        <p:txBody>
          <a:bodyPr/>
          <a:lstStyle/>
          <a:p>
            <a:endParaRPr lang="en-CA" dirty="0">
              <a:latin typeface="Georgia" panose="02040502050405020303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88720" y="618134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1100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LR explains the 'why' in plain language · RF confirms importance rankings with higher accuracy · Both agree Spotify playlists dominate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661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actionable recommendations for Spotify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7452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playlist placement as the biggest driver of streams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25146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Georgia" panose="02040502050405020303" pitchFamily="18" charset="0"/>
              </a:rPr>
              <a:t>About 60% of a song’s streaming performance comes from how many playlists it’s added to. Getting a spot on Spotify’s editorial or algorithmic playlists delivers far more impact than chart rankings or genre labels.</a:t>
            </a:r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cross-platform, not just on-platform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9520" y="26060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Georgia" panose="02040502050405020303" pitchFamily="18" charset="0"/>
              </a:rPr>
              <a:t>Tracks available on three streaming services get nearly 5× more streams than songs released on just one. Even though it seems counterintuitive, Spotify actually gains when artists are also active on Apple Music and Deezer - the data shows broader visibility boosts overall streaming performance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7452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9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streams/day for 'trending', not lifetime totals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4892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Georgia" panose="02040502050405020303" pitchFamily="18" charset="0"/>
              </a:rPr>
              <a:t>Total stream counts naturally favor older songs, which hides what listeners are engaging with today. Using a velocity metric - streams divided by days since release - highlights the tracks gaining real momentum right now, such as </a:t>
            </a:r>
            <a:r>
              <a:rPr lang="en-US" sz="1000" i="1" dirty="0">
                <a:latin typeface="Georgia" panose="02040502050405020303" pitchFamily="18" charset="0"/>
              </a:rPr>
              <a:t>Flowers</a:t>
            </a:r>
            <a:r>
              <a:rPr lang="en-US" sz="1000" dirty="0">
                <a:latin typeface="Georgia" panose="02040502050405020303" pitchFamily="18" charset="0"/>
              </a:rPr>
              <a:t>, </a:t>
            </a:r>
            <a:r>
              <a:rPr lang="en-US" sz="1000" i="1" dirty="0">
                <a:latin typeface="Georgia" panose="02040502050405020303" pitchFamily="18" charset="0"/>
              </a:rPr>
              <a:t>Kill Bill</a:t>
            </a:r>
            <a:r>
              <a:rPr lang="en-US" sz="1000" dirty="0">
                <a:latin typeface="Georgia" panose="02040502050405020303" pitchFamily="18" charset="0"/>
              </a:rPr>
              <a:t>, and </a:t>
            </a:r>
            <a:r>
              <a:rPr lang="en-US" sz="1000" i="1" dirty="0">
                <a:latin typeface="Georgia" panose="02040502050405020303" pitchFamily="18" charset="0"/>
              </a:rPr>
              <a:t>Unholy</a:t>
            </a:r>
            <a:r>
              <a:rPr lang="en-US" sz="10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589520" y="4114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b="1" dirty="0">
                <a:latin typeface="Georgia" panose="02040502050405020303" pitchFamily="18" charset="0"/>
              </a:rPr>
              <a:t>Don’t Treat Audio Fingerprinting as a Primary Predictor</a:t>
            </a:r>
            <a:endParaRPr lang="en-US" sz="1700" b="1" dirty="0">
              <a:latin typeface="Georgia" panose="020405020504050203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4892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latin typeface="Georgia" panose="02040502050405020303" pitchFamily="18" charset="0"/>
              </a:rPr>
              <a:t>Audio features contribute very little to predicting a hit - less than 15% of model impact. They’re useful for matching songs by mood or similarity, but they shouldn’t be treated as strong predictors of streaming success on their own.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 - THREE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572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stream variance explained by Spotify playlist count alone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0"/>
            <a:ext cx="4572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38912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4.7×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89120" y="4800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more streams for songs on all three platforms vs. just 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3657600"/>
            <a:ext cx="45720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&lt; 15%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0" y="4800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 importance from audio features - distribution beats composition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45720" cy="3657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latin typeface="Calibri" pitchFamily="34" charset="0"/>
                <a:ea typeface="Calibri" pitchFamily="34" charset="-122"/>
                <a:cs typeface="Calibri" pitchFamily="34" charset="-120"/>
              </a:rPr>
              <a:t>Maisha Khatoon | Analyst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191</TotalTime>
  <Words>1517</Words>
  <Application>Microsoft Office PowerPoint</Application>
  <PresentationFormat>Widescreen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Georgia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Maisha Khatoon</dc:creator>
  <cp:lastModifiedBy>Maisha Khatoon</cp:lastModifiedBy>
  <cp:revision>3</cp:revision>
  <dcterms:created xsi:type="dcterms:W3CDTF">2026-05-22T00:36:23Z</dcterms:created>
  <dcterms:modified xsi:type="dcterms:W3CDTF">2026-08-06T22:58:07Z</dcterms:modified>
</cp:coreProperties>
</file>